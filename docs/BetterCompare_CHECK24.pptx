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59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6FA61E71-2568-1DFD-766E-A5F907F85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998" y="384357"/>
            <a:ext cx="1993082" cy="1993082"/>
          </a:xfrm>
          <a:prstGeom prst="rect">
            <a:avLst/>
          </a:prstGeom>
        </p:spPr>
      </p:pic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BadgeBg"/>
          <p:cNvSpPr/>
          <p:nvPr/>
        </p:nvSpPr>
        <p:spPr>
          <a:xfrm>
            <a:off x="6858000" y="10972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E2001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" name="BadgeText"/>
          <p:cNvSpPr/>
          <p:nvPr/>
        </p:nvSpPr>
        <p:spPr>
          <a:xfrm>
            <a:off x="6858000" y="1097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GenDev9 Challenge</a:t>
            </a:r>
          </a:p>
        </p:txBody>
      </p:sp>
      <p:sp>
        <p:nvSpPr>
          <p:cNvPr id="6" name="MainTitle"/>
          <p:cNvSpPr/>
          <p:nvPr/>
        </p:nvSpPr>
        <p:spPr>
          <a:xfrm>
            <a:off x="548640" y="162732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3399"/>
                </a:solidFill>
                <a:latin typeface="Arial Black" pitchFamily="34" charset="0"/>
              </a:rPr>
              <a:t>BetterCompare</a:t>
            </a:r>
          </a:p>
        </p:txBody>
      </p:sp>
      <p:sp>
        <p:nvSpPr>
          <p:cNvPr id="7" name="Subtitle"/>
          <p:cNvSpPr/>
          <p:nvPr/>
        </p:nvSpPr>
        <p:spPr>
          <a:xfrm>
            <a:off x="552747" y="263316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E2001A"/>
                </a:solidFill>
                <a:latin typeface="Arial" pitchFamily="34" charset="0"/>
              </a:rPr>
              <a:t>One Search. Every Comparison</a:t>
            </a:r>
            <a:r>
              <a:rPr lang="en-US" sz="2400" i="1" dirty="0">
                <a:solidFill>
                  <a:srgbClr val="E2001A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8" name="Author"/>
          <p:cNvSpPr/>
          <p:nvPr/>
        </p:nvSpPr>
        <p:spPr>
          <a:xfrm>
            <a:off x="548640" y="3419701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Julia Goihman  ·  bettercompare.dev</a:t>
            </a:r>
          </a:p>
        </p:txBody>
      </p:sp>
      <p:sp>
        <p:nvSpPr>
          <p:cNvPr id="9" name="P1Bg"/>
          <p:cNvSpPr/>
          <p:nvPr/>
        </p:nvSpPr>
        <p:spPr>
          <a:xfrm>
            <a:off x="552747" y="4075431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0" name="P1Text"/>
          <p:cNvSpPr/>
          <p:nvPr/>
        </p:nvSpPr>
        <p:spPr>
          <a:xfrm>
            <a:off x="552747" y="4075431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99"/>
                </a:solidFill>
              </a:rPr>
              <a:t>Conformance Engine</a:t>
            </a:r>
          </a:p>
        </p:txBody>
      </p:sp>
      <p:sp>
        <p:nvSpPr>
          <p:cNvPr id="11" name="P2Bg"/>
          <p:cNvSpPr/>
          <p:nvPr/>
        </p:nvSpPr>
        <p:spPr>
          <a:xfrm>
            <a:off x="2655627" y="4075431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" name="P2Text"/>
          <p:cNvSpPr/>
          <p:nvPr/>
        </p:nvSpPr>
        <p:spPr>
          <a:xfrm>
            <a:off x="2655627" y="4075431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99"/>
                </a:solidFill>
              </a:rPr>
              <a:t>14 Tools · 4 Verticals</a:t>
            </a:r>
          </a:p>
        </p:txBody>
      </p:sp>
      <p:sp>
        <p:nvSpPr>
          <p:cNvPr id="13" name="P3Bg"/>
          <p:cNvSpPr/>
          <p:nvPr/>
        </p:nvSpPr>
        <p:spPr>
          <a:xfrm>
            <a:off x="4758507" y="4075431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4" name="P3Text"/>
          <p:cNvSpPr/>
          <p:nvPr/>
        </p:nvSpPr>
        <p:spPr>
          <a:xfrm>
            <a:off x="4758507" y="4075431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99"/>
                </a:solidFill>
              </a:rPr>
              <a:t>Live Dashboard</a:t>
            </a:r>
          </a:p>
        </p:txBody>
      </p:sp>
      <p:sp>
        <p:nvSpPr>
          <p:cNvPr id="15" name="P4Bg"/>
          <p:cNvSpPr/>
          <p:nvPr/>
        </p:nvSpPr>
        <p:spPr>
          <a:xfrm>
            <a:off x="6861387" y="4075431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6" name="P4Text"/>
          <p:cNvSpPr/>
          <p:nvPr/>
        </p:nvSpPr>
        <p:spPr>
          <a:xfrm>
            <a:off x="6861387" y="4075431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99"/>
                </a:solidFill>
              </a:rPr>
              <a:t>MCP Protocol</a:t>
            </a:r>
          </a:p>
        </p:txBody>
      </p:sp>
      <p:sp>
        <p:nvSpPr>
          <p:cNvPr id="17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5FAAA6CA-AD99-4649-51FF-AA46FF36C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457200" y="55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The Challenge</a:t>
            </a:r>
          </a:p>
        </p:txBody>
      </p:sp>
      <p:sp>
        <p:nvSpPr>
          <p:cNvPr id="20" name="Card20"/>
          <p:cNvSpPr/>
          <p:nvPr/>
        </p:nvSpPr>
        <p:spPr>
          <a:xfrm>
            <a:off x="457200" y="1600200"/>
            <a:ext cx="3840480" cy="297180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" name="ColHead1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2001A"/>
                </a:solidFill>
              </a:rPr>
              <a:t>❌  Without a Proxy</a:t>
            </a:r>
          </a:p>
        </p:txBody>
      </p:sp>
      <p:sp>
        <p:nvSpPr>
          <p:cNvPr id="22" name="ColBullets1"/>
          <p:cNvSpPr/>
          <p:nvPr/>
        </p:nvSpPr>
        <p:spPr>
          <a:xfrm>
            <a:off x="640080" y="16002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Char char="•"/>
            </a:pPr>
            <a:r>
              <a:rPr lang="en-US" sz="1400" dirty="0"/>
              <a:t>ChatGPT connects to 4 separate MCPs</a:t>
            </a:r>
          </a:p>
          <a:p>
            <a:pPr marL="342900" indent="-342900">
              <a:buChar char="•"/>
            </a:pPr>
            <a:r>
              <a:rPr lang="en-US" sz="1400" dirty="0"/>
              <a:t>No conformance checks</a:t>
            </a:r>
          </a:p>
          <a:p>
            <a:pPr marL="342900" indent="-342900">
              <a:buChar char="•"/>
            </a:pPr>
            <a:r>
              <a:rPr lang="en-US" sz="1400" dirty="0"/>
              <a:t>Silent tool failures</a:t>
            </a:r>
          </a:p>
          <a:p>
            <a:pPr marL="342900" indent="-342900">
              <a:buChar char="•"/>
            </a:pPr>
            <a:r>
              <a:rPr lang="en-US" sz="1400" dirty="0"/>
              <a:t>Naming conflicts between verticals</a:t>
            </a:r>
          </a:p>
          <a:p>
            <a:pPr marL="342900" indent="-342900">
              <a:buChar char="•"/>
            </a:pPr>
            <a:r>
              <a:rPr lang="en-US" sz="1400" dirty="0"/>
              <a:t>No monitoring or tracing</a:t>
            </a:r>
          </a:p>
          <a:p>
            <a:pPr marL="342900" indent="-342900">
              <a:buChar char="•"/>
            </a:pPr>
            <a:r>
              <a:rPr lang="en-US" sz="1400" dirty="0"/>
              <a:t>Breaking changes hit ChatGPT directly</a:t>
            </a:r>
          </a:p>
        </p:txBody>
      </p:sp>
      <p:sp>
        <p:nvSpPr>
          <p:cNvPr id="30" name="Card30"/>
          <p:cNvSpPr/>
          <p:nvPr/>
        </p:nvSpPr>
        <p:spPr>
          <a:xfrm>
            <a:off x="4846320" y="1600200"/>
            <a:ext cx="3840480" cy="2971800"/>
          </a:xfrm>
          <a:prstGeom prst="roundRect">
            <a:avLst>
              <a:gd name="adj" fmla="val 8000"/>
            </a:avLst>
          </a:prstGeom>
          <a:solidFill>
            <a:srgbClr val="F0F8F0"/>
          </a:solidFill>
          <a:ln w="19050">
            <a:solidFill>
              <a:srgbClr val="0064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1" name="ColHead2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6400"/>
                </a:solidFill>
              </a:rPr>
              <a:t>✓  With BetterCompare</a:t>
            </a:r>
          </a:p>
        </p:txBody>
      </p:sp>
      <p:sp>
        <p:nvSpPr>
          <p:cNvPr id="32" name="ColBullets2"/>
          <p:cNvSpPr/>
          <p:nvPr/>
        </p:nvSpPr>
        <p:spPr>
          <a:xfrm>
            <a:off x="5029200" y="16002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One proxy, one endpoint for ChatGPT</a:t>
            </a:r>
          </a:p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Every tool validated before exposure</a:t>
            </a:r>
          </a:p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Actionable feedback with fix suggestions</a:t>
            </a:r>
          </a:p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Cross-vertical namespacing</a:t>
            </a:r>
          </a:p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Full tracing, sessions, health dashboard</a:t>
            </a:r>
          </a:p>
          <a:p>
            <a:pPr marL="342900" indent="-342900"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Proxy absorbs breaking changes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28711A3-EEFF-E8EC-3DA8-C5340D2A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4BAE463-6595-0F0D-B24B-70C10A173BB3}"/>
              </a:ext>
            </a:extLst>
          </p:cNvPr>
          <p:cNvSpPr/>
          <p:nvPr/>
        </p:nvSpPr>
        <p:spPr>
          <a:xfrm>
            <a:off x="1104900" y="1485900"/>
            <a:ext cx="7216140" cy="17145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9189E6A-5251-7EE1-336D-ED9426500BAE}"/>
              </a:ext>
            </a:extLst>
          </p:cNvPr>
          <p:cNvSpPr/>
          <p:nvPr/>
        </p:nvSpPr>
        <p:spPr>
          <a:xfrm flipH="1" flipV="1">
            <a:off x="7277103" y="3177540"/>
            <a:ext cx="495297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05A341F-98C6-C34F-0FD2-62D734BCFB4E}"/>
              </a:ext>
            </a:extLst>
          </p:cNvPr>
          <p:cNvSpPr/>
          <p:nvPr/>
        </p:nvSpPr>
        <p:spPr>
          <a:xfrm>
            <a:off x="5585460" y="32004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29B3527-1A61-17C5-068D-075D1D161AF2}"/>
              </a:ext>
            </a:extLst>
          </p:cNvPr>
          <p:cNvSpPr/>
          <p:nvPr/>
        </p:nvSpPr>
        <p:spPr>
          <a:xfrm>
            <a:off x="3596640" y="3200400"/>
            <a:ext cx="0" cy="5867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3948608-F555-AE8C-CDB2-A42B79E31E82}"/>
              </a:ext>
            </a:extLst>
          </p:cNvPr>
          <p:cNvSpPr/>
          <p:nvPr/>
        </p:nvSpPr>
        <p:spPr>
          <a:xfrm>
            <a:off x="4572000" y="1371600"/>
            <a:ext cx="0" cy="3200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Architecture</a:t>
            </a:r>
          </a:p>
        </p:txBody>
      </p:sp>
      <p:sp>
        <p:nvSpPr>
          <p:cNvPr id="20" name="Card20"/>
          <p:cNvSpPr/>
          <p:nvPr/>
        </p:nvSpPr>
        <p:spPr>
          <a:xfrm>
            <a:off x="3200400" y="91440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003399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" name="ChatGPT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ChatGPT / MCP Inspector</a:t>
            </a:r>
          </a:p>
        </p:txBody>
      </p:sp>
      <p:sp>
        <p:nvSpPr>
          <p:cNvPr id="22" name="Card22"/>
          <p:cNvSpPr/>
          <p:nvPr/>
        </p:nvSpPr>
        <p:spPr>
          <a:xfrm>
            <a:off x="1371600" y="160020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3" name="ProxyLabel"/>
          <p:cNvSpPr/>
          <p:nvPr/>
        </p:nvSpPr>
        <p:spPr>
          <a:xfrm>
            <a:off x="1371600" y="1600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99"/>
                </a:solidFill>
              </a:rPr>
              <a:t>BetterCompare MCP Proxy  ·  bettercompare.dev/mcp</a:t>
            </a:r>
          </a:p>
        </p:txBody>
      </p:sp>
      <p:sp>
        <p:nvSpPr>
          <p:cNvPr id="24" name="Card24"/>
          <p:cNvSpPr/>
          <p:nvPr/>
        </p:nvSpPr>
        <p:spPr>
          <a:xfrm>
            <a:off x="1508760" y="237744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5" name="Engine1"/>
          <p:cNvSpPr/>
          <p:nvPr/>
        </p:nvSpPr>
        <p:spPr>
          <a:xfrm>
            <a:off x="1508760" y="2377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Conformance Engine</a:t>
            </a:r>
          </a:p>
        </p:txBody>
      </p:sp>
      <p:sp>
        <p:nvSpPr>
          <p:cNvPr id="26" name="Card26"/>
          <p:cNvSpPr/>
          <p:nvPr/>
        </p:nvSpPr>
        <p:spPr>
          <a:xfrm>
            <a:off x="3063240" y="237744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7" name="Engine2"/>
          <p:cNvSpPr/>
          <p:nvPr/>
        </p:nvSpPr>
        <p:spPr>
          <a:xfrm>
            <a:off x="3063240" y="2377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Routing + Namespace</a:t>
            </a:r>
          </a:p>
        </p:txBody>
      </p:sp>
      <p:sp>
        <p:nvSpPr>
          <p:cNvPr id="28" name="Card28"/>
          <p:cNvSpPr/>
          <p:nvPr/>
        </p:nvSpPr>
        <p:spPr>
          <a:xfrm>
            <a:off x="4617720" y="237744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9" name="Engine3"/>
          <p:cNvSpPr/>
          <p:nvPr/>
        </p:nvSpPr>
        <p:spPr>
          <a:xfrm>
            <a:off x="4617720" y="2377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Monitoring + Tracing</a:t>
            </a:r>
          </a:p>
        </p:txBody>
      </p:sp>
      <p:sp>
        <p:nvSpPr>
          <p:cNvPr id="30" name="Card30"/>
          <p:cNvSpPr/>
          <p:nvPr/>
        </p:nvSpPr>
        <p:spPr>
          <a:xfrm>
            <a:off x="6172200" y="237744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1" name="Engine4"/>
          <p:cNvSpPr/>
          <p:nvPr/>
        </p:nvSpPr>
        <p:spPr>
          <a:xfrm>
            <a:off x="6172200" y="2377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Feedback Store</a:t>
            </a:r>
          </a:p>
        </p:txBody>
      </p:sp>
      <p:sp>
        <p:nvSpPr>
          <p:cNvPr id="32" name="InternalLabel"/>
          <p:cNvSpPr/>
          <p:nvPr/>
        </p:nvSpPr>
        <p:spPr>
          <a:xfrm>
            <a:off x="1737360" y="2895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</a:rPr>
              <a:t>internal only — MCP SDK ClientSession</a:t>
            </a:r>
          </a:p>
        </p:txBody>
      </p:sp>
      <p:sp>
        <p:nvSpPr>
          <p:cNvPr id="33" name="Card33"/>
          <p:cNvSpPr/>
          <p:nvPr/>
        </p:nvSpPr>
        <p:spPr>
          <a:xfrm>
            <a:off x="731520" y="365760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003399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4" name="V1"/>
          <p:cNvSpPr/>
          <p:nvPr/>
        </p:nvSpPr>
        <p:spPr>
          <a:xfrm>
            <a:off x="73152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Internet
:8801</a:t>
            </a:r>
          </a:p>
        </p:txBody>
      </p:sp>
      <p:sp>
        <p:nvSpPr>
          <p:cNvPr id="35" name="Card35"/>
          <p:cNvSpPr/>
          <p:nvPr/>
        </p:nvSpPr>
        <p:spPr>
          <a:xfrm>
            <a:off x="2697480" y="365760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E2001A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6" name="V2"/>
          <p:cNvSpPr/>
          <p:nvPr/>
        </p:nvSpPr>
        <p:spPr>
          <a:xfrm>
            <a:off x="269748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
:8802</a:t>
            </a:r>
          </a:p>
        </p:txBody>
      </p:sp>
      <p:sp>
        <p:nvSpPr>
          <p:cNvPr id="37" name="Card37"/>
          <p:cNvSpPr/>
          <p:nvPr/>
        </p:nvSpPr>
        <p:spPr>
          <a:xfrm>
            <a:off x="4663440" y="365760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006400"/>
          </a:solidFill>
          <a:ln w="19050">
            <a:solidFill>
              <a:srgbClr val="0064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8" name="V3"/>
          <p:cNvSpPr/>
          <p:nvPr/>
        </p:nvSpPr>
        <p:spPr>
          <a:xfrm>
            <a:off x="466344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Travel
:8803</a:t>
            </a:r>
          </a:p>
        </p:txBody>
      </p:sp>
      <p:sp>
        <p:nvSpPr>
          <p:cNvPr id="39" name="Card39"/>
          <p:cNvSpPr/>
          <p:nvPr/>
        </p:nvSpPr>
        <p:spPr>
          <a:xfrm>
            <a:off x="6629400" y="365760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CC6600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0" name="V4"/>
          <p:cNvSpPr/>
          <p:nvPr/>
        </p:nvSpPr>
        <p:spPr>
          <a:xfrm>
            <a:off x="662940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
:8804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C691A22-E54A-40D8-4DAC-27644326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  <p:sp>
        <p:nvSpPr>
          <p:cNvPr id="11" name="Shape 4">
            <a:extLst>
              <a:ext uri="{FF2B5EF4-FFF2-40B4-BE49-F238E27FC236}">
                <a16:creationId xmlns:a16="http://schemas.microsoft.com/office/drawing/2014/main" id="{D5A696E4-BFFA-CA0C-1CD0-4083D6F78AAA}"/>
              </a:ext>
            </a:extLst>
          </p:cNvPr>
          <p:cNvSpPr/>
          <p:nvPr/>
        </p:nvSpPr>
        <p:spPr>
          <a:xfrm flipH="1">
            <a:off x="1645920" y="3200400"/>
            <a:ext cx="48768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457200" y="699156"/>
            <a:ext cx="58029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Conformance Engine</a:t>
            </a:r>
          </a:p>
        </p:txBody>
      </p:sp>
      <p:sp>
        <p:nvSpPr>
          <p:cNvPr id="11" name="Subtitle"/>
          <p:cNvSpPr/>
          <p:nvPr/>
        </p:nvSpPr>
        <p:spPr>
          <a:xfrm>
            <a:off x="457200" y="1061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6 Rules · 4 Groups</a:t>
            </a:r>
          </a:p>
        </p:txBody>
      </p:sp>
      <p:sp>
        <p:nvSpPr>
          <p:cNvPr id="20" name="Card20"/>
          <p:cNvSpPr/>
          <p:nvPr/>
        </p:nvSpPr>
        <p:spPr>
          <a:xfrm>
            <a:off x="457200" y="1463040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" name="R1"/>
          <p:cNvSpPr/>
          <p:nvPr/>
        </p:nvSpPr>
        <p:spPr>
          <a:xfrm>
            <a:off x="640080" y="1463040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MISSING_NAME  [schema]</a:t>
            </a:r>
          </a:p>
        </p:txBody>
      </p:sp>
      <p:sp>
        <p:nvSpPr>
          <p:cNvPr id="22" name="Badge22"/>
          <p:cNvSpPr/>
          <p:nvPr/>
        </p:nvSpPr>
        <p:spPr>
          <a:xfrm>
            <a:off x="3520080" y="1535706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2001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23" name="Card23"/>
          <p:cNvSpPr/>
          <p:nvPr/>
        </p:nvSpPr>
        <p:spPr>
          <a:xfrm>
            <a:off x="457200" y="1856592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4" name="R2"/>
          <p:cNvSpPr/>
          <p:nvPr/>
        </p:nvSpPr>
        <p:spPr>
          <a:xfrm>
            <a:off x="640080" y="1856592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MISSING_SCHEMA  [schema]</a:t>
            </a:r>
          </a:p>
        </p:txBody>
      </p:sp>
      <p:sp>
        <p:nvSpPr>
          <p:cNvPr id="25" name="Badge25"/>
          <p:cNvSpPr/>
          <p:nvPr/>
        </p:nvSpPr>
        <p:spPr>
          <a:xfrm>
            <a:off x="3520080" y="1904461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2001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26" name="Card26"/>
          <p:cNvSpPr/>
          <p:nvPr/>
        </p:nvSpPr>
        <p:spPr>
          <a:xfrm>
            <a:off x="457200" y="2250144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7" name="R3"/>
          <p:cNvSpPr/>
          <p:nvPr/>
        </p:nvSpPr>
        <p:spPr>
          <a:xfrm>
            <a:off x="640080" y="2250144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MISSING_DESCRIPTION  [schema]</a:t>
            </a:r>
          </a:p>
        </p:txBody>
      </p:sp>
      <p:sp>
        <p:nvSpPr>
          <p:cNvPr id="28" name="Badge28"/>
          <p:cNvSpPr/>
          <p:nvPr/>
        </p:nvSpPr>
        <p:spPr>
          <a:xfrm>
            <a:off x="3520080" y="230392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CC66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29" name="Card29"/>
          <p:cNvSpPr/>
          <p:nvPr/>
        </p:nvSpPr>
        <p:spPr>
          <a:xfrm>
            <a:off x="457200" y="2643696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" name="R4"/>
          <p:cNvSpPr/>
          <p:nvPr/>
        </p:nvSpPr>
        <p:spPr>
          <a:xfrm>
            <a:off x="640080" y="2643696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ADMIN_TOOL  [safety]</a:t>
            </a:r>
          </a:p>
        </p:txBody>
      </p:sp>
      <p:sp>
        <p:nvSpPr>
          <p:cNvPr id="31" name="Badge31"/>
          <p:cNvSpPr/>
          <p:nvPr/>
        </p:nvSpPr>
        <p:spPr>
          <a:xfrm>
            <a:off x="3520080" y="2693119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2001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32" name="Card32"/>
          <p:cNvSpPr/>
          <p:nvPr/>
        </p:nvSpPr>
        <p:spPr>
          <a:xfrm>
            <a:off x="457200" y="3037248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3" name="R5"/>
          <p:cNvSpPr/>
          <p:nvPr/>
        </p:nvSpPr>
        <p:spPr>
          <a:xfrm>
            <a:off x="640080" y="3037248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NAMING_SNAKE_CASE  [naming]</a:t>
            </a:r>
          </a:p>
        </p:txBody>
      </p:sp>
      <p:sp>
        <p:nvSpPr>
          <p:cNvPr id="34" name="Badge34"/>
          <p:cNvSpPr/>
          <p:nvPr/>
        </p:nvSpPr>
        <p:spPr>
          <a:xfrm>
            <a:off x="3520080" y="3083254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CC66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35" name="Card35"/>
          <p:cNvSpPr/>
          <p:nvPr/>
        </p:nvSpPr>
        <p:spPr>
          <a:xfrm>
            <a:off x="457200" y="3430800"/>
            <a:ext cx="4114800" cy="338328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6" name="R6"/>
          <p:cNvSpPr/>
          <p:nvPr/>
        </p:nvSpPr>
        <p:spPr>
          <a:xfrm>
            <a:off x="640080" y="3430800"/>
            <a:ext cx="2743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MISSING_REQUIRED  [ux]</a:t>
            </a:r>
          </a:p>
        </p:txBody>
      </p:sp>
      <p:sp>
        <p:nvSpPr>
          <p:cNvPr id="37" name="Badge37"/>
          <p:cNvSpPr/>
          <p:nvPr/>
        </p:nvSpPr>
        <p:spPr>
          <a:xfrm>
            <a:off x="3520080" y="3474000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CC66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40" name="FixHeader"/>
          <p:cNvSpPr/>
          <p:nvPr/>
        </p:nvSpPr>
        <p:spPr>
          <a:xfrm>
            <a:off x="4937760" y="10839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The Key Feature: fix field</a:t>
            </a:r>
          </a:p>
        </p:txBody>
      </p:sp>
      <p:sp>
        <p:nvSpPr>
          <p:cNvPr id="41" name="CodeBox41"/>
          <p:cNvSpPr/>
          <p:nvPr/>
        </p:nvSpPr>
        <p:spPr>
          <a:xfrm>
            <a:off x="4937760" y="1463040"/>
            <a:ext cx="3749040" cy="18745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{ "rule_id": "MISSING_DESCRIPTION",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  "severity": "WARNING",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  "reason": "No meaningful description",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  "fix": "Add a description of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    at least 10 characters"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}</a:t>
            </a:r>
          </a:p>
        </p:txBody>
      </p:sp>
      <p:sp>
        <p:nvSpPr>
          <p:cNvPr id="42" name="FixDesc"/>
          <p:cNvSpPr/>
          <p:nvPr/>
        </p:nvSpPr>
        <p:spPr>
          <a:xfrm>
            <a:off x="4937760" y="3429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2E"/>
                </a:solidFill>
              </a:rPr>
              <a:t>Teams know exactly what to fix — not just that something is wrong.</a:t>
            </a:r>
          </a:p>
        </p:txBody>
      </p:sp>
      <p:sp>
        <p:nvSpPr>
          <p:cNvPr id="43" name="PolicyHeader"/>
          <p:cNvSpPr/>
          <p:nvPr/>
        </p:nvSpPr>
        <p:spPr>
          <a:xfrm>
            <a:off x="493776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Policy Modes:</a:t>
            </a:r>
          </a:p>
        </p:txBody>
      </p:sp>
      <p:sp>
        <p:nvSpPr>
          <p:cNvPr id="44" name="PolicyDesc"/>
          <p:cNvSpPr/>
          <p:nvPr/>
        </p:nvSpPr>
        <p:spPr>
          <a:xfrm>
            <a:off x="4937760" y="42843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v1 Lenient — tools with warnings still exposed
v2 Strict — any violation blocks the tool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E362C1-A370-FA2F-B06E-D88391C87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365760" y="55052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Live Demo</a:t>
            </a:r>
          </a:p>
        </p:txBody>
      </p:sp>
      <p:sp>
        <p:nvSpPr>
          <p:cNvPr id="20" name="Card20"/>
          <p:cNvSpPr/>
          <p:nvPr/>
        </p:nvSpPr>
        <p:spPr>
          <a:xfrm>
            <a:off x="365760" y="1395402"/>
            <a:ext cx="4114800" cy="799158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" name="Badge21"/>
          <p:cNvSpPr/>
          <p:nvPr/>
        </p:nvSpPr>
        <p:spPr>
          <a:xfrm>
            <a:off x="502920" y="1532562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03399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Demo0Title"/>
          <p:cNvSpPr/>
          <p:nvPr/>
        </p:nvSpPr>
        <p:spPr>
          <a:xfrm>
            <a:off x="1051560" y="139540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</a:rPr>
              <a:t>Health Check</a:t>
            </a:r>
          </a:p>
        </p:txBody>
      </p:sp>
      <p:sp>
        <p:nvSpPr>
          <p:cNvPr id="23" name="Demo0Url"/>
          <p:cNvSpPr/>
          <p:nvPr/>
        </p:nvSpPr>
        <p:spPr>
          <a:xfrm>
            <a:off x="1051560" y="16383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99"/>
                </a:solidFill>
              </a:rPr>
              <a:t>bettercompare.dev/health</a:t>
            </a:r>
          </a:p>
        </p:txBody>
      </p:sp>
      <p:sp>
        <p:nvSpPr>
          <p:cNvPr id="24" name="Demo0Desc"/>
          <p:cNvSpPr/>
          <p:nvPr/>
        </p:nvSpPr>
        <p:spPr>
          <a:xfrm>
            <a:off x="1051560" y="188050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All 4 verticals green</a:t>
            </a:r>
          </a:p>
        </p:txBody>
      </p:sp>
      <p:sp>
        <p:nvSpPr>
          <p:cNvPr id="4" name="Card24"/>
          <p:cNvSpPr/>
          <p:nvPr/>
        </p:nvSpPr>
        <p:spPr>
          <a:xfrm>
            <a:off x="4846320" y="1395402"/>
            <a:ext cx="4114800" cy="799158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9900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5" name="Badge25"/>
          <p:cNvSpPr/>
          <p:nvPr/>
        </p:nvSpPr>
        <p:spPr>
          <a:xfrm>
            <a:off x="4983480" y="1532562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990099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Demo1Title"/>
          <p:cNvSpPr/>
          <p:nvPr/>
        </p:nvSpPr>
        <p:spPr>
          <a:xfrm>
            <a:off x="5532120" y="139540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</a:rPr>
              <a:t>MCP Inspector</a:t>
            </a:r>
          </a:p>
        </p:txBody>
      </p:sp>
      <p:sp>
        <p:nvSpPr>
          <p:cNvPr id="27" name="Demo1Url"/>
          <p:cNvSpPr/>
          <p:nvPr/>
        </p:nvSpPr>
        <p:spPr>
          <a:xfrm>
            <a:off x="5532120" y="163244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0099"/>
                </a:solidFill>
              </a:rPr>
              <a:t>bettercompare</a:t>
            </a:r>
            <a:r>
              <a:rPr lang="en-US" sz="1000" b="1" dirty="0">
                <a:solidFill>
                  <a:srgbClr val="990099"/>
                </a:solidFill>
              </a:rPr>
              <a:t>.dev/mcp</a:t>
            </a:r>
          </a:p>
        </p:txBody>
      </p:sp>
      <p:sp>
        <p:nvSpPr>
          <p:cNvPr id="28" name="Demo1Desc"/>
          <p:cNvSpPr/>
          <p:nvPr/>
        </p:nvSpPr>
        <p:spPr>
          <a:xfrm>
            <a:off x="5532120" y="19016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14 tools · namespaced · Connected ✓</a:t>
            </a:r>
          </a:p>
        </p:txBody>
      </p:sp>
      <p:sp>
        <p:nvSpPr>
          <p:cNvPr id="5" name="Card28"/>
          <p:cNvSpPr/>
          <p:nvPr/>
        </p:nvSpPr>
        <p:spPr>
          <a:xfrm>
            <a:off x="365760" y="2369678"/>
            <a:ext cx="4114800" cy="799158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64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9" name="Badge29"/>
          <p:cNvSpPr/>
          <p:nvPr/>
        </p:nvSpPr>
        <p:spPr>
          <a:xfrm>
            <a:off x="502920" y="2506838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064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Demo2Title"/>
          <p:cNvSpPr/>
          <p:nvPr/>
        </p:nvSpPr>
        <p:spPr>
          <a:xfrm>
            <a:off x="1051560" y="236967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</a:rPr>
              <a:t>Conformance</a:t>
            </a:r>
            <a:r>
              <a:rPr lang="en-US" sz="1300" b="1" dirty="0">
                <a:solidFill>
                  <a:srgbClr val="1A1A2E"/>
                </a:solidFill>
              </a:rPr>
              <a:t> Feedback</a:t>
            </a:r>
          </a:p>
        </p:txBody>
      </p:sp>
      <p:sp>
        <p:nvSpPr>
          <p:cNvPr id="31" name="Demo2Url"/>
          <p:cNvSpPr/>
          <p:nvPr/>
        </p:nvSpPr>
        <p:spPr>
          <a:xfrm>
            <a:off x="1051560" y="25927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400"/>
                </a:solidFill>
              </a:rPr>
              <a:t>bettercompare.dev/feedback</a:t>
            </a:r>
          </a:p>
        </p:txBody>
      </p:sp>
      <p:sp>
        <p:nvSpPr>
          <p:cNvPr id="32" name="Demo2Desc"/>
          <p:cNvSpPr/>
          <p:nvPr/>
        </p:nvSpPr>
        <p:spPr>
          <a:xfrm>
            <a:off x="1051560" y="2869845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Score 87% · fix field in action</a:t>
            </a:r>
          </a:p>
        </p:txBody>
      </p:sp>
      <p:sp>
        <p:nvSpPr>
          <p:cNvPr id="6" name="Card32"/>
          <p:cNvSpPr/>
          <p:nvPr/>
        </p:nvSpPr>
        <p:spPr>
          <a:xfrm>
            <a:off x="4846320" y="2369678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3" name="Badge33"/>
          <p:cNvSpPr/>
          <p:nvPr/>
        </p:nvSpPr>
        <p:spPr>
          <a:xfrm>
            <a:off x="4983480" y="2506838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E2001A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Demo3Title"/>
          <p:cNvSpPr/>
          <p:nvPr/>
        </p:nvSpPr>
        <p:spPr>
          <a:xfrm>
            <a:off x="5532120" y="236967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</a:t>
            </a:r>
            <a:r>
              <a:rPr lang="en-US" sz="1400" b="1" dirty="0">
                <a:solidFill>
                  <a:srgbClr val="1A1A2E"/>
                </a:solidFill>
              </a:rPr>
              <a:t>Dashboard</a:t>
            </a:r>
          </a:p>
        </p:txBody>
      </p:sp>
      <p:sp>
        <p:nvSpPr>
          <p:cNvPr id="35" name="Demo3Url"/>
          <p:cNvSpPr/>
          <p:nvPr/>
        </p:nvSpPr>
        <p:spPr>
          <a:xfrm>
            <a:off x="5532120" y="26266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001A"/>
                </a:solidFill>
              </a:rPr>
              <a:t>bettercompare.dev/dashboard</a:t>
            </a:r>
          </a:p>
        </p:txBody>
      </p:sp>
      <p:sp>
        <p:nvSpPr>
          <p:cNvPr id="36" name="Demo3Desc"/>
          <p:cNvSpPr/>
          <p:nvPr/>
        </p:nvSpPr>
        <p:spPr>
          <a:xfrm>
            <a:off x="5532120" y="2878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Traces · Sessions · Top Tools</a:t>
            </a:r>
          </a:p>
        </p:txBody>
      </p:sp>
      <p:sp>
        <p:nvSpPr>
          <p:cNvPr id="7" name="Card36"/>
          <p:cNvSpPr/>
          <p:nvPr/>
        </p:nvSpPr>
        <p:spPr>
          <a:xfrm>
            <a:off x="365760" y="3358394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7" name="Badge37"/>
          <p:cNvSpPr/>
          <p:nvPr/>
        </p:nvSpPr>
        <p:spPr>
          <a:xfrm>
            <a:off x="502920" y="344983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CC66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Demo4Title"/>
          <p:cNvSpPr/>
          <p:nvPr/>
        </p:nvSpPr>
        <p:spPr>
          <a:xfrm>
            <a:off x="1051560" y="331267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</a:rPr>
              <a:t>Widget</a:t>
            </a:r>
            <a:r>
              <a:rPr lang="en-US" sz="1300" b="1" dirty="0">
                <a:solidFill>
                  <a:srgbClr val="1A1A2E"/>
                </a:solidFill>
              </a:rPr>
              <a:t> Sandbox</a:t>
            </a:r>
          </a:p>
        </p:txBody>
      </p:sp>
      <p:sp>
        <p:nvSpPr>
          <p:cNvPr id="39" name="Demo4Url"/>
          <p:cNvSpPr/>
          <p:nvPr/>
        </p:nvSpPr>
        <p:spPr>
          <a:xfrm>
            <a:off x="1051560" y="35563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6600"/>
                </a:solidFill>
              </a:rPr>
              <a:t>dashboard → </a:t>
            </a:r>
            <a:r>
              <a:rPr lang="en-US" sz="1200" b="1" dirty="0">
                <a:solidFill>
                  <a:srgbClr val="CC6600"/>
                </a:solidFill>
              </a:rPr>
              <a:t>Sandbox</a:t>
            </a:r>
            <a:r>
              <a:rPr lang="en-US" sz="1000" b="1" dirty="0">
                <a:solidFill>
                  <a:srgbClr val="CC6600"/>
                </a:solidFill>
              </a:rPr>
              <a:t> Tab</a:t>
            </a:r>
          </a:p>
        </p:txBody>
      </p:sp>
      <p:sp>
        <p:nvSpPr>
          <p:cNvPr id="40" name="Demo4Desc"/>
          <p:cNvSpPr/>
          <p:nvPr/>
        </p:nvSpPr>
        <p:spPr>
          <a:xfrm>
            <a:off x="1051560" y="38535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Test any tool in isolation</a:t>
            </a:r>
          </a:p>
        </p:txBody>
      </p:sp>
      <p:sp>
        <p:nvSpPr>
          <p:cNvPr id="8" name="Card40"/>
          <p:cNvSpPr/>
          <p:nvPr/>
        </p:nvSpPr>
        <p:spPr>
          <a:xfrm>
            <a:off x="4846320" y="3358394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1" name="Badge41"/>
          <p:cNvSpPr/>
          <p:nvPr/>
        </p:nvSpPr>
        <p:spPr>
          <a:xfrm>
            <a:off x="4983480" y="344983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CC660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Demo5Title"/>
          <p:cNvSpPr/>
          <p:nvPr/>
        </p:nvSpPr>
        <p:spPr>
          <a:xfrm>
            <a:off x="5532120" y="331267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</a:rPr>
              <a:t>Versions</a:t>
            </a:r>
          </a:p>
        </p:txBody>
      </p:sp>
      <p:sp>
        <p:nvSpPr>
          <p:cNvPr id="43" name="Demo5Url"/>
          <p:cNvSpPr/>
          <p:nvPr/>
        </p:nvSpPr>
        <p:spPr>
          <a:xfrm>
            <a:off x="5532120" y="35242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6600"/>
                </a:solidFill>
              </a:rPr>
              <a:t>bettercompare.dev/versions</a:t>
            </a:r>
          </a:p>
        </p:txBody>
      </p:sp>
      <p:sp>
        <p:nvSpPr>
          <p:cNvPr id="44" name="Demo5Desc"/>
          <p:cNvSpPr/>
          <p:nvPr/>
        </p:nvSpPr>
        <p:spPr>
          <a:xfrm>
            <a:off x="5532120" y="3807095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Breaking change detection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B2EB7C1-CD70-F396-105A-E93DA322C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457200" y="51206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Versioning &amp; Per-Vertical QA</a:t>
            </a:r>
          </a:p>
        </p:txBody>
      </p:sp>
      <p:sp>
        <p:nvSpPr>
          <p:cNvPr id="11" name="Sub1"/>
          <p:cNvSpPr/>
          <p:nvPr/>
        </p:nvSpPr>
        <p:spPr>
          <a:xfrm>
            <a:off x="457200" y="108910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Explicit versioning per component</a:t>
            </a:r>
          </a:p>
        </p:txBody>
      </p:sp>
      <p:sp>
        <p:nvSpPr>
          <p:cNvPr id="12" name="Card12"/>
          <p:cNvSpPr/>
          <p:nvPr/>
        </p:nvSpPr>
        <p:spPr>
          <a:xfrm>
            <a:off x="457200" y="1591056"/>
            <a:ext cx="4114800" cy="365760"/>
          </a:xfrm>
          <a:prstGeom prst="roundRect">
            <a:avLst>
              <a:gd name="adj" fmla="val 8000"/>
            </a:avLst>
          </a:prstGeom>
          <a:solidFill>
            <a:srgbClr val="003399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3" name="TH"/>
          <p:cNvSpPr/>
          <p:nvPr/>
        </p:nvSpPr>
        <p:spPr>
          <a:xfrm>
            <a:off x="548640" y="15727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Change Type   |   Who Acts   |   Review?</a:t>
            </a:r>
          </a:p>
        </p:txBody>
      </p:sp>
      <p:sp>
        <p:nvSpPr>
          <p:cNvPr id="14" name="Card14"/>
          <p:cNvSpPr/>
          <p:nvPr/>
        </p:nvSpPr>
        <p:spPr>
          <a:xfrm>
            <a:off x="457200" y="1956816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5" name="TR1"/>
          <p:cNvSpPr/>
          <p:nvPr/>
        </p:nvSpPr>
        <p:spPr>
          <a:xfrm>
            <a:off x="548640" y="19568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Non-breaking   |   Vertical bumps minor → /reload   |   No</a:t>
            </a:r>
          </a:p>
        </p:txBody>
      </p:sp>
      <p:sp>
        <p:nvSpPr>
          <p:cNvPr id="16" name="Card16"/>
          <p:cNvSpPr/>
          <p:nvPr/>
        </p:nvSpPr>
        <p:spPr>
          <a:xfrm>
            <a:off x="457200" y="2414016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7" name="TR2"/>
          <p:cNvSpPr/>
          <p:nvPr/>
        </p:nvSpPr>
        <p:spPr>
          <a:xfrm>
            <a:off x="548640" y="24140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Breaking change   |   Proxy detects → teams coordinate   |   Likely yes</a:t>
            </a:r>
          </a:p>
        </p:txBody>
      </p:sp>
      <p:sp>
        <p:nvSpPr>
          <p:cNvPr id="18" name="Card18"/>
          <p:cNvSpPr/>
          <p:nvPr/>
        </p:nvSpPr>
        <p:spPr>
          <a:xfrm>
            <a:off x="457200" y="2871216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9" name="TR3"/>
          <p:cNvSpPr/>
          <p:nvPr/>
        </p:nvSpPr>
        <p:spPr>
          <a:xfrm>
            <a:off x="548640" y="28712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New rule   |   All verticals re-evaluated   |   Depends</a:t>
            </a:r>
          </a:p>
        </p:txBody>
      </p:sp>
      <p:sp>
        <p:nvSpPr>
          <p:cNvPr id="20" name="Sub2"/>
          <p:cNvSpPr/>
          <p:nvPr/>
        </p:nvSpPr>
        <p:spPr>
          <a:xfrm>
            <a:off x="4937760" y="109379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Per-Vertical QA Mode</a:t>
            </a:r>
          </a:p>
        </p:txBody>
      </p:sp>
      <p:sp>
        <p:nvSpPr>
          <p:cNvPr id="21" name="CodeBox21"/>
          <p:cNvSpPr/>
          <p:nvPr/>
        </p:nvSpPr>
        <p:spPr>
          <a:xfrm>
            <a:off x="4937760" y="1591056"/>
            <a:ext cx="3749040" cy="12618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POST /mcp?vertical=internet</a:t>
            </a:r>
          </a:p>
          <a:p>
            <a:pPr marL="0" indent="0">
              <a:buNone/>
            </a:pPr>
            <a:endParaRPr lang="en-US" sz="1200" dirty="0">
              <a:solidFill>
                <a:srgbClr val="006400"/>
              </a:solidFill>
              <a:latin typeface="Courier New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# or via header: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POST /mcp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6400"/>
                </a:solidFill>
                <a:latin typeface="Courier New" pitchFamily="34" charset="0"/>
              </a:rPr>
              <a:t>x-vertical: internet</a:t>
            </a:r>
          </a:p>
        </p:txBody>
      </p:sp>
      <p:sp>
        <p:nvSpPr>
          <p:cNvPr id="22" name="QADesc"/>
          <p:cNvSpPr/>
          <p:nvPr/>
        </p:nvSpPr>
        <p:spPr>
          <a:xfrm>
            <a:off x="4937760" y="289864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Zero infrastructure changes — same connector URL. Vertical teams test in isolation without seeing other verticals' tools.</a:t>
            </a:r>
          </a:p>
        </p:txBody>
      </p:sp>
      <p:sp>
        <p:nvSpPr>
          <p:cNvPr id="23" name="Card2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4" name="SandboxTitle"/>
          <p:cNvSpPr/>
          <p:nvPr/>
        </p:nvSpPr>
        <p:spPr>
          <a:xfrm>
            <a:off x="640080" y="3767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🧪  Widget Sandbox</a:t>
            </a:r>
          </a:p>
        </p:txBody>
      </p:sp>
      <p:sp>
        <p:nvSpPr>
          <p:cNvPr id="25" name="SandboxUrl"/>
          <p:cNvSpPr/>
          <p:nvPr/>
        </p:nvSpPr>
        <p:spPr>
          <a:xfrm>
            <a:off x="64008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/>
              <a:t>bettercompare.dev/dashboard → Sandbox Tab</a:t>
            </a:r>
          </a:p>
        </p:txBody>
      </p:sp>
      <p:sp>
        <p:nvSpPr>
          <p:cNvPr id="26" name="SandboxDesc"/>
          <p:cNvSpPr/>
          <p:nvPr/>
        </p:nvSpPr>
        <p:spPr>
          <a:xfrm>
            <a:off x="4114800" y="378561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Select any tool · Fill parameters · Run · See live result + raw JSON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5C8A46-17EA-F5BB-3A02-30872CAD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SlideTitle"/>
          <p:cNvSpPr/>
          <p:nvPr/>
        </p:nvSpPr>
        <p:spPr>
          <a:xfrm>
            <a:off x="365760" y="55499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99"/>
                </a:solidFill>
                <a:latin typeface="Arial Black" pitchFamily="34" charset="0"/>
              </a:rPr>
              <a:t>Learnings &amp; Reflections</a:t>
            </a:r>
          </a:p>
        </p:txBody>
      </p:sp>
      <p:sp>
        <p:nvSpPr>
          <p:cNvPr id="20" name="Card20"/>
          <p:cNvSpPr/>
          <p:nvPr/>
        </p:nvSpPr>
        <p:spPr>
          <a:xfrm>
            <a:off x="365760" y="128016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" name="L0Title"/>
          <p:cNvSpPr/>
          <p:nvPr/>
        </p:nvSpPr>
        <p:spPr>
          <a:xfrm>
            <a:off x="548640" y="138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399"/>
                </a:solidFill>
              </a:rPr>
              <a:t>🔌</a:t>
            </a:r>
            <a:r>
              <a:rPr lang="en-US" sz="1300" b="1" dirty="0">
                <a:solidFill>
                  <a:srgbClr val="003399"/>
                </a:solidFill>
              </a:rPr>
              <a:t>  MCP is more than a protocol</a:t>
            </a:r>
          </a:p>
        </p:txBody>
      </p:sp>
      <p:sp>
        <p:nvSpPr>
          <p:cNvPr id="22" name="L0Body"/>
          <p:cNvSpPr/>
          <p:nvPr/>
        </p:nvSpPr>
        <p:spPr>
          <a:xfrm>
            <a:off x="548640" y="15544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Building with the real SDK showed why Streamable HTTP and tool schemas are so precisely specified. ChatGPT builds trust on top of them.</a:t>
            </a:r>
          </a:p>
        </p:txBody>
      </p:sp>
      <p:sp>
        <p:nvSpPr>
          <p:cNvPr id="23" name="Card23"/>
          <p:cNvSpPr/>
          <p:nvPr/>
        </p:nvSpPr>
        <p:spPr>
          <a:xfrm>
            <a:off x="4846320" y="128016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6600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4" name="L1Title"/>
          <p:cNvSpPr/>
          <p:nvPr/>
        </p:nvSpPr>
        <p:spPr>
          <a:xfrm>
            <a:off x="5029200" y="1374987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0099"/>
                </a:solidFill>
              </a:rPr>
              <a:t>⚖️</a:t>
            </a:r>
            <a:r>
              <a:rPr lang="en-US" sz="1300" b="1" dirty="0">
                <a:solidFill>
                  <a:srgbClr val="660099"/>
                </a:solidFill>
              </a:rPr>
              <a:t>  Conformance is a product problem</a:t>
            </a:r>
          </a:p>
        </p:txBody>
      </p:sp>
      <p:sp>
        <p:nvSpPr>
          <p:cNvPr id="25" name="L1Body"/>
          <p:cNvSpPr/>
          <p:nvPr/>
        </p:nvSpPr>
        <p:spPr>
          <a:xfrm>
            <a:off x="5029200" y="15544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Deciding which rules are fair was harder than building the engine. The two-policy approach (v1 lenient, v2 strict) was the answer.</a:t>
            </a:r>
          </a:p>
        </p:txBody>
      </p:sp>
      <p:sp>
        <p:nvSpPr>
          <p:cNvPr id="26" name="Card26"/>
          <p:cNvSpPr/>
          <p:nvPr/>
        </p:nvSpPr>
        <p:spPr>
          <a:xfrm>
            <a:off x="365760" y="297180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CC66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7" name="L2Title"/>
          <p:cNvSpPr/>
          <p:nvPr/>
        </p:nvSpPr>
        <p:spPr>
          <a:xfrm>
            <a:off x="548640" y="30403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6600"/>
                </a:solidFill>
              </a:rPr>
              <a:t>🔢</a:t>
            </a:r>
            <a:r>
              <a:rPr lang="en-US" sz="1300" b="1" dirty="0">
                <a:solidFill>
                  <a:srgbClr val="CC6600"/>
                </a:solidFill>
              </a:rPr>
              <a:t>  Versioning is underrated</a:t>
            </a:r>
          </a:p>
        </p:txBody>
      </p:sp>
      <p:sp>
        <p:nvSpPr>
          <p:cNvPr id="28" name="L2Body"/>
          <p:cNvSpPr/>
          <p:nvPr/>
        </p:nvSpPr>
        <p:spPr>
          <a:xfrm>
            <a:off x="548640" y="33375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A listed ChatGPT app is approved at a point in time. Explicit versioning is a product requirement, not just a technical nicety.</a:t>
            </a:r>
          </a:p>
        </p:txBody>
      </p:sp>
      <p:sp>
        <p:nvSpPr>
          <p:cNvPr id="29" name="Card29"/>
          <p:cNvSpPr/>
          <p:nvPr/>
        </p:nvSpPr>
        <p:spPr>
          <a:xfrm>
            <a:off x="4846320" y="297180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E2001A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" name="L3Title"/>
          <p:cNvSpPr/>
          <p:nvPr/>
        </p:nvSpPr>
        <p:spPr>
          <a:xfrm>
            <a:off x="5029200" y="30505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001A"/>
                </a:solidFill>
              </a:rPr>
              <a:t>🔄</a:t>
            </a:r>
            <a:r>
              <a:rPr lang="en-US" sz="1300" b="1" dirty="0">
                <a:solidFill>
                  <a:srgbClr val="E2001A"/>
                </a:solidFill>
              </a:rPr>
              <a:t>  What I would do differently</a:t>
            </a:r>
          </a:p>
        </p:txBody>
      </p:sp>
      <p:sp>
        <p:nvSpPr>
          <p:cNvPr id="31" name="L3Body"/>
          <p:cNvSpPr/>
          <p:nvPr/>
        </p:nvSpPr>
        <p:spPr>
          <a:xfrm>
            <a:off x="5029200" y="33375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</a:rPr>
              <a:t>Persistent storage first (Redis), circuit breakers for unreachable verticals, conformance as a standalone CLI tool.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0EFA89-7C6F-7F57-F2B0-84220AB9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" name="TitleArea"/>
          <p:cNvSpPr/>
          <p:nvPr/>
        </p:nvSpPr>
        <p:spPr>
          <a:xfrm>
            <a:off x="0" y="548640"/>
            <a:ext cx="9144000" cy="16459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FinalTitle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</a:rPr>
              <a:t>BetterCompare</a:t>
            </a:r>
          </a:p>
        </p:txBody>
      </p:sp>
      <p:sp>
        <p:nvSpPr>
          <p:cNvPr id="22" name="FinalSub"/>
          <p:cNvSpPr/>
          <p:nvPr/>
        </p:nvSpPr>
        <p:spPr>
          <a:xfrm>
            <a:off x="548640" y="135105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ACCFF"/>
                </a:solidFill>
              </a:rPr>
              <a:t>One Search. Every Comparison.</a:t>
            </a:r>
          </a:p>
        </p:txBody>
      </p:sp>
      <p:sp>
        <p:nvSpPr>
          <p:cNvPr id="30" name="Card30"/>
          <p:cNvSpPr/>
          <p:nvPr/>
        </p:nvSpPr>
        <p:spPr>
          <a:xfrm>
            <a:off x="457200" y="2377440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1" name="L1"/>
          <p:cNvSpPr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🌐 Live
bettercompare.dev</a:t>
            </a:r>
          </a:p>
        </p:txBody>
      </p:sp>
      <p:sp>
        <p:nvSpPr>
          <p:cNvPr id="32" name="Card32"/>
          <p:cNvSpPr/>
          <p:nvPr/>
        </p:nvSpPr>
        <p:spPr>
          <a:xfrm>
            <a:off x="2560320" y="2377440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3" name="L2"/>
          <p:cNvSpPr/>
          <p:nvPr/>
        </p:nvSpPr>
        <p:spPr>
          <a:xfrm>
            <a:off x="25603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📊 Dashboard
bettercompare.dev/dashboard</a:t>
            </a:r>
          </a:p>
        </p:txBody>
      </p:sp>
      <p:sp>
        <p:nvSpPr>
          <p:cNvPr id="34" name="Card34"/>
          <p:cNvSpPr/>
          <p:nvPr/>
        </p:nvSpPr>
        <p:spPr>
          <a:xfrm>
            <a:off x="4663440" y="2377440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5" name="L3"/>
          <p:cNvSpPr/>
          <p:nvPr/>
        </p:nvSpPr>
        <p:spPr>
          <a:xfrm>
            <a:off x="46634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🔌 MCP
bettercompare.dev/mcp</a:t>
            </a:r>
          </a:p>
        </p:txBody>
      </p:sp>
      <p:sp>
        <p:nvSpPr>
          <p:cNvPr id="36" name="Card36"/>
          <p:cNvSpPr/>
          <p:nvPr/>
        </p:nvSpPr>
        <p:spPr>
          <a:xfrm>
            <a:off x="6766560" y="2377440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E8EDF8"/>
          </a:solidFill>
          <a:ln w="19050">
            <a:solidFill>
              <a:srgbClr val="00339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7" name="L4"/>
          <p:cNvSpPr/>
          <p:nvPr/>
        </p:nvSpPr>
        <p:spPr>
          <a:xfrm>
            <a:off x="67665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99"/>
                </a:solidFill>
              </a:rPr>
              <a:t>📁 GitHub
github.com/Juliagoihman</a:t>
            </a:r>
          </a:p>
        </p:txBody>
      </p:sp>
      <p:sp>
        <p:nvSpPr>
          <p:cNvPr id="40" name="N1"/>
          <p:cNvSpPr/>
          <p:nvPr/>
        </p:nvSpPr>
        <p:spPr>
          <a:xfrm>
            <a:off x="73152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3399"/>
                </a:solidFill>
                <a:latin typeface="Arial Black" pitchFamily="34" charset="0"/>
              </a:rPr>
              <a:t>14</a:t>
            </a:r>
          </a:p>
        </p:txBody>
      </p:sp>
      <p:sp>
        <p:nvSpPr>
          <p:cNvPr id="41" name="NL1"/>
          <p:cNvSpPr/>
          <p:nvPr/>
        </p:nvSpPr>
        <p:spPr>
          <a:xfrm>
            <a:off x="731520" y="3932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Tools</a:t>
            </a:r>
          </a:p>
        </p:txBody>
      </p:sp>
      <p:sp>
        <p:nvSpPr>
          <p:cNvPr id="42" name="N2"/>
          <p:cNvSpPr/>
          <p:nvPr/>
        </p:nvSpPr>
        <p:spPr>
          <a:xfrm>
            <a:off x="274320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3399"/>
                </a:solidFill>
                <a:latin typeface="Arial Black" pitchFamily="34" charset="0"/>
              </a:rPr>
              <a:t>4</a:t>
            </a:r>
          </a:p>
        </p:txBody>
      </p:sp>
      <p:sp>
        <p:nvSpPr>
          <p:cNvPr id="43" name="NL2"/>
          <p:cNvSpPr/>
          <p:nvPr/>
        </p:nvSpPr>
        <p:spPr>
          <a:xfrm>
            <a:off x="2743200" y="3932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Verticals</a:t>
            </a:r>
          </a:p>
        </p:txBody>
      </p:sp>
      <p:sp>
        <p:nvSpPr>
          <p:cNvPr id="44" name="N3"/>
          <p:cNvSpPr/>
          <p:nvPr/>
        </p:nvSpPr>
        <p:spPr>
          <a:xfrm>
            <a:off x="475488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3399"/>
                </a:solidFill>
                <a:latin typeface="Arial Black" pitchFamily="34" charset="0"/>
              </a:rPr>
              <a:t>6</a:t>
            </a:r>
          </a:p>
        </p:txBody>
      </p:sp>
      <p:sp>
        <p:nvSpPr>
          <p:cNvPr id="45" name="NL3"/>
          <p:cNvSpPr/>
          <p:nvPr/>
        </p:nvSpPr>
        <p:spPr>
          <a:xfrm>
            <a:off x="4754880" y="3932280"/>
            <a:ext cx="16959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Conformance Rules</a:t>
            </a:r>
          </a:p>
        </p:txBody>
      </p:sp>
      <p:sp>
        <p:nvSpPr>
          <p:cNvPr id="46" name="N4"/>
          <p:cNvSpPr/>
          <p:nvPr/>
        </p:nvSpPr>
        <p:spPr>
          <a:xfrm>
            <a:off x="676656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3399"/>
                </a:solidFill>
                <a:latin typeface="Arial Black" pitchFamily="34" charset="0"/>
              </a:rPr>
              <a:t>1</a:t>
            </a:r>
          </a:p>
        </p:txBody>
      </p:sp>
      <p:sp>
        <p:nvSpPr>
          <p:cNvPr id="47" name="NL4"/>
          <p:cNvSpPr/>
          <p:nvPr/>
        </p:nvSpPr>
        <p:spPr>
          <a:xfrm>
            <a:off x="6766560" y="3932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MCP Endpoint</a:t>
            </a:r>
          </a:p>
        </p:txBody>
      </p:sp>
      <p:sp>
        <p:nvSpPr>
          <p:cNvPr id="48" name="Footer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Made with ❤️ by Julia Goihman  ·  GenDev9 – CHECK24 ChatGPT App Challenge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A848AA8-D1BE-FF49-3C10-657E4DFE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1582615" cy="5237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Bildschirmpräsentation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BetterCompare – GenDev9 CHECK24 Challenge</dc:title>
  <dc:subject>PptxGenJS Presentation</dc:subject>
  <dc:creator>PptxGenJS</dc:creator>
  <cp:lastModifiedBy>julia _optimal</cp:lastModifiedBy>
  <cp:revision>2</cp:revision>
  <dcterms:created xsi:type="dcterms:W3CDTF">2026-05-17T01:56:36Z</dcterms:created>
  <dcterms:modified xsi:type="dcterms:W3CDTF">2026-05-17T07:53:27Z</dcterms:modified>
</cp:coreProperties>
</file>